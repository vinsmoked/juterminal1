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E6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73152" cy="6675120"/>
          </a:xfrm>
          <a:prstGeom prst="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115800" y="91440"/>
            <a:ext cx="73152" cy="6675120"/>
          </a:xfrm>
          <a:prstGeom prst="rect">
            <a:avLst/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10362895" cy="1463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0" b="1">
                <a:solidFill>
                  <a:srgbClr val="22F5FF"/>
                </a:solidFill>
                <a:latin typeface="Segoe UI"/>
              </a:rPr>
              <a:t>CYBERSIM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362895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0F4FC"/>
                </a:solidFill>
                <a:latin typeface="Segoe UI"/>
              </a:rPr>
              <a:t>A Dual-Perspective Cybersecurity Training Platform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3886200"/>
            <a:ext cx="3962095" cy="32004"/>
          </a:xfrm>
          <a:prstGeom prst="rect">
            <a:avLst/>
          </a:prstGeom>
          <a:solidFill>
            <a:srgbClr val="E6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10362895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EB6CC"/>
                </a:solidFill>
                <a:latin typeface="Segoe UI"/>
              </a:rPr>
              <a:t>University of Jordan   |   KASIT   |   Department of Computer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617720"/>
            <a:ext cx="10362895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EB6CC"/>
                </a:solidFill>
                <a:latin typeface="Segoe UI"/>
              </a:rPr>
              <a:t>Graduation Project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74920"/>
            <a:ext cx="10362895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EB6CC"/>
                </a:solidFill>
                <a:latin typeface="Segoe UI"/>
              </a:rPr>
              <a:t>Supervised by: Dr. [Supervisor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5C5C"/>
                </a:solidFill>
                <a:latin typeface="Segoe UI"/>
              </a:rPr>
              <a:t>THE OFFENSIVE–DEFENSIVE DIVIDE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5349240" cy="33832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49377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5C5C"/>
                </a:solidFill>
                <a:latin typeface="Segoe UI"/>
              </a:rPr>
              <a:t>Red Team  (Offensive)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4937760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F0F4FC"/>
                </a:solidFill>
                <a:latin typeface="Segoe UI"/>
              </a:rPr>
              <a:t>•  Kali tools: nmap, sqlmap, Metasploit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F0F4FC"/>
                </a:solidFill>
                <a:latin typeface="Segoe UI"/>
              </a:rPr>
              <a:t>•  Isolated VM or lab environment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F0F4FC"/>
                </a:solidFill>
                <a:latin typeface="Segoe UI"/>
              </a:rPr>
              <a:t>•  Goal: find vulnerabilities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F0F4FC"/>
                </a:solidFill>
                <a:latin typeface="Segoe UI"/>
              </a:rPr>
              <a:t>•  No view of the defender's response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097280"/>
            <a:ext cx="5349240" cy="33832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5C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234440"/>
            <a:ext cx="49377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5CC8FF"/>
                </a:solidFill>
                <a:latin typeface="Segoe UI"/>
              </a:rPr>
              <a:t>Blue Team  (Defensive)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828800"/>
            <a:ext cx="4937760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F0F4FC"/>
                </a:solidFill>
                <a:latin typeface="Segoe UI"/>
              </a:rPr>
              <a:t>•  SIEM dashboards: Splunk, Elastic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F0F4FC"/>
                </a:solidFill>
                <a:latin typeface="Segoe UI"/>
              </a:rPr>
              <a:t>•  Separate course, separate lab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F0F4FC"/>
                </a:solidFill>
                <a:latin typeface="Segoe UI"/>
              </a:rPr>
              <a:t>•  Goal: detect anomalies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0">
                <a:solidFill>
                  <a:srgbClr val="F0F4FC"/>
                </a:solidFill>
                <a:latin typeface="Segoe UI"/>
              </a:rPr>
              <a:t>•  No view of the attacker's methods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04487" y="4709160"/>
            <a:ext cx="4389120" cy="713232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 w="25400">
            <a:solidFill>
              <a:srgbClr val="E6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04487" y="4709160"/>
            <a:ext cx="43891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6C766"/>
                </a:solidFill>
                <a:latin typeface="Segoe UI"/>
              </a:rPr>
              <a:t>←   Never connected  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5806440"/>
            <a:ext cx="11384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E6C766"/>
                </a:solidFill>
                <a:latin typeface="Segoe UI"/>
              </a:rPr>
              <a:t>Students graduate without grasping the causal link between an attack and its detection.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6C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22F5FF"/>
                </a:solidFill>
                <a:latin typeface="Segoe UI"/>
              </a:rPr>
              <a:t>THE CYBERSIM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68680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EB6CC"/>
                </a:solidFill>
                <a:latin typeface="Segoe UI"/>
              </a:rPr>
              <a:t>One session. Two perspectives. Same live commands.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0876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73351"/>
            <a:ext cx="3291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5C5C"/>
                </a:solidFill>
                <a:latin typeface="Segoe UI"/>
              </a:rPr>
              <a:t>🔴 Red 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221991"/>
            <a:ext cx="329184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Real Kali container. Run nmap, sqlmap, gobuster against a live target.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0876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5C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1673351"/>
            <a:ext cx="3291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5CC8FF"/>
                </a:solidFill>
                <a:latin typeface="Segoe UI"/>
              </a:rPr>
              <a:t>🔵 Blue SIEM Feed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8848" y="2221991"/>
            <a:ext cx="329184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Live stream — Suricata / Zeek / auditd alerts fire in real time as you attack.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50876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0768" y="1673351"/>
            <a:ext cx="3291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2F5FF"/>
                </a:solidFill>
                <a:latin typeface="Segoe UI"/>
              </a:rPr>
              <a:t>🤖 AI Socratic Tutor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2221991"/>
            <a:ext cx="329184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Watches every command. Gives Socratic hints (L1→L3) without revealing answers.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70332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E6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67911"/>
            <a:ext cx="3291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6C766"/>
                </a:solidFill>
                <a:latin typeface="Segoe UI"/>
              </a:rPr>
              <a:t>⚡ Instant Reset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416552"/>
            <a:ext cx="329184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Docker sandbox resets in ~8 seconds. Fail safely, then try again.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70332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35E0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867911"/>
            <a:ext cx="3291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5E0A1"/>
                </a:solidFill>
                <a:latin typeface="Segoe UI"/>
              </a:rPr>
              <a:t>📊 Debrief &amp;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4416552"/>
            <a:ext cx="329184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Phase-by-phase score, flag evidence, and a learning-insights report.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70332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8" y="3867911"/>
            <a:ext cx="3291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2F5FF"/>
                </a:solidFill>
                <a:latin typeface="Segoe UI"/>
              </a:rPr>
              <a:t>🔄 One Timeline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8" y="4416552"/>
            <a:ext cx="329184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Red actions and Blue alerts share one timeline — see cause → effect instantly.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6C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22F5FF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25880"/>
            <a:ext cx="11475720" cy="868680"/>
          </a:xfrm>
          <a:prstGeom prst="roundRect">
            <a:avLst>
              <a:gd name="adj" fmla="val 5000"/>
            </a:avLst>
          </a:prstGeom>
          <a:solidFill>
            <a:srgbClr val="10192E"/>
          </a:solidFill>
          <a:ln w="22225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28346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F5FF"/>
                </a:solidFill>
                <a:latin typeface="Segoe UI"/>
              </a:rPr>
              <a:t>BROWSER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325880"/>
            <a:ext cx="80924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React 18  ·  Vite  ·  Tailwind  ·  xterm.js  ·  Three.js 3D hero  ·  Zustand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2176272"/>
            <a:ext cx="80924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EB6CC"/>
                </a:solidFill>
                <a:latin typeface="Segoe UI"/>
              </a:rPr>
              <a:t>↓  WebSocket / REST API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487168"/>
            <a:ext cx="11475720" cy="868680"/>
          </a:xfrm>
          <a:prstGeom prst="roundRect">
            <a:avLst>
              <a:gd name="adj" fmla="val 5000"/>
            </a:avLst>
          </a:prstGeom>
          <a:solidFill>
            <a:srgbClr val="10192E"/>
          </a:solidFill>
          <a:ln w="22225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487168"/>
            <a:ext cx="28346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F5FF"/>
                </a:solidFill>
                <a:latin typeface="Segoe UI"/>
              </a:rPr>
              <a:t>FASTAPI 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487168"/>
            <a:ext cx="80924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Python 3.11  ·  Async WebSocket  ·  Docker SDK  ·  JWT Auth  ·  Scenario Engine  ·  AI Monitor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3337560"/>
            <a:ext cx="80924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EB6CC"/>
                </a:solidFill>
                <a:latin typeface="Segoe UI"/>
              </a:rPr>
              <a:t>↓  DB reads / writes, cache, events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648456"/>
            <a:ext cx="11475720" cy="868680"/>
          </a:xfrm>
          <a:prstGeom prst="roundRect">
            <a:avLst>
              <a:gd name="adj" fmla="val 5000"/>
            </a:avLst>
          </a:prstGeom>
          <a:solidFill>
            <a:srgbClr val="10192E"/>
          </a:solidFill>
          <a:ln w="22225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648456"/>
            <a:ext cx="28346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F5FF"/>
                </a:solidFill>
                <a:latin typeface="Segoe UI"/>
              </a:rPr>
              <a:t>DATA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648456"/>
            <a:ext cx="80924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PostgreSQL (sessions / scores)  ·  Redis (real-time pub/sub, WS)  ·  Elasticsearch + Filebeat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4498848"/>
            <a:ext cx="80924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EB6CC"/>
                </a:solidFill>
                <a:latin typeface="Segoe UI"/>
              </a:rPr>
              <a:t>↓  Docker exec, SDK, network isolation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809744"/>
            <a:ext cx="11475720" cy="868680"/>
          </a:xfrm>
          <a:prstGeom prst="roundRect">
            <a:avLst>
              <a:gd name="adj" fmla="val 5000"/>
            </a:avLst>
          </a:prstGeom>
          <a:solidFill>
            <a:srgbClr val="10192E"/>
          </a:solidFill>
          <a:ln w="22225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809744"/>
            <a:ext cx="28346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F5FF"/>
                </a:solidFill>
                <a:latin typeface="Segoe UI"/>
              </a:rPr>
              <a:t>SCENARIO CONTAINERS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4809744"/>
            <a:ext cx="80924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Kali  ·  NovaMed PHP/MariaDB  ·  Nexora Samba AD  ·  Orion GoPhish / victim-sim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172200"/>
            <a:ext cx="114757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C766"/>
                </a:solidFill>
                <a:latin typeface="Segoe UI"/>
              </a:rPr>
              <a:t>All scenario networks are internal-only (no internet). Kali → targets only. 9/9 containers hardened.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6C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5C5C"/>
                </a:solidFill>
                <a:latin typeface="Segoe UI"/>
              </a:rPr>
              <a:t>RED TEAM WORKSPACE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9601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88136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5C5C"/>
                </a:solidFill>
                <a:latin typeface="Segoe UI"/>
              </a:rPr>
              <a:t>Real Kali Terminal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6362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xterm.js + WebSocket → docker exec on cybersim-kali. Full nmap, sqlmap, gobuster, impacket toolkit.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9601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0528" y="1088136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5C5C"/>
                </a:solidFill>
                <a:latin typeface="Segoe UI"/>
              </a:rPr>
              <a:t>PTES Phase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0528" y="156362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Recon → Enum → Vuln ID → Exploit → Post-Exploit → Report. Phase gates enforce methodology.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69748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825496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5C5C"/>
                </a:solidFill>
                <a:latin typeface="Segoe UI"/>
              </a:rPr>
              <a:t>ROE Scope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0098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scope_enforcer.py blocks commands targeting out-of-scope IPs. Students can't escape the sandbox.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69748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825496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5C5C"/>
                </a:solidFill>
                <a:latin typeface="Segoe UI"/>
              </a:rPr>
              <a:t>🚩 Flag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330098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output_patterns.py scans PTY output; a nudge chip fires: 'Flag detected — submit for +N pts'.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43484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562855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5C5C"/>
                </a:solidFill>
                <a:latin typeface="Segoe UI"/>
              </a:rPr>
              <a:t>AI Socratic Tutor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03834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L1 (–2) concept  ·  L2 (–5) hypothesis  ·  L3 (–10) scaffold. Never reveals the answer.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43484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4562855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5C5C"/>
                </a:solidFill>
                <a:latin typeface="Segoe UI"/>
              </a:rPr>
              <a:t>Collaborative Notes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503834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Markdown notebook tagged finding / evidence / ioc / remediation. Content feeds the debrief report.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6C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5CC8FF"/>
                </a:solidFill>
                <a:latin typeface="Segoe UI"/>
              </a:rPr>
              <a:t>BLUE TEAM WORKSPACE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9601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5C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88136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5CC8FF"/>
                </a:solidFill>
                <a:latin typeface="Segoe UI"/>
              </a:rPr>
              <a:t>Live SIEM Feed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6362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Redis pub/sub → WebSocket → SiemFeed.jsx. Every red command publishes ≥1 event within 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9601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5C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0528" y="1088136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5CC8FF"/>
                </a:solidFill>
                <a:latin typeface="Segoe UI"/>
              </a:rPr>
              <a:t>MITRE ATT&amp;CK Tags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0528" y="156362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Each event carries a technique (T1046, T1110.001…), severity (INFO→CRITICAL), and log source.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69748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5C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825496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5CC8FF"/>
                </a:solidFill>
                <a:latin typeface="Segoe UI"/>
              </a:rPr>
              <a:t>Alert Triage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0098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ForensicsWorkbench: classify each event true / false positive / investigating. Feeds the IR report.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69748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5C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825496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5CC8FF"/>
                </a:solidFill>
                <a:latin typeface="Segoe UI"/>
              </a:rPr>
              <a:t>Detection Bonuses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330098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Detect a scan within 5 minutes → bonus points. Blue scoring mirrors real SOC KPIs.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43484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5C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562855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5CC8FF"/>
                </a:solidFill>
                <a:latin typeface="Segoe UI"/>
              </a:rPr>
              <a:t>aria-live Stream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03834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Feed is aria-live='polite' — screen readers announce new events. WCAG 2.2 AA compliant.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43484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5C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4562855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5CC8FF"/>
                </a:solidFill>
                <a:latin typeface="Segoe UI"/>
              </a:rPr>
              <a:t>Scenario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503834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SC-01: 27 detection rules  ·  SC-02: 22 (4768/4662/4670)  ·  SC-03: 18 + C2 callback.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6C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6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E6C766"/>
                </a:solidFill>
                <a:latin typeface="Segoe UI"/>
              </a:rPr>
              <a:t>AI SAFETY MODEL  —  OWASP LLM TOP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896112"/>
            <a:ext cx="11640312" cy="841248"/>
          </a:xfrm>
          <a:prstGeom prst="roundRect">
            <a:avLst>
              <a:gd name="adj" fmla="val 5000"/>
            </a:avLst>
          </a:prstGeom>
          <a:solidFill>
            <a:srgbClr val="10192E"/>
          </a:solidFill>
          <a:ln w="20320">
            <a:solidFill>
              <a:srgbClr val="E6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310896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6C766"/>
                </a:solidFill>
                <a:latin typeface="Segoe UI"/>
              </a:rPr>
              <a:t>L0 — ROE Scope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0" y="896112"/>
            <a:ext cx="813816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scope_enforcer.py blocks out-of-scope target IPs before the AI ever sees the command.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801368"/>
            <a:ext cx="11640312" cy="841248"/>
          </a:xfrm>
          <a:prstGeom prst="roundRect">
            <a:avLst>
              <a:gd name="adj" fmla="val 5000"/>
            </a:avLst>
          </a:prstGeom>
          <a:solidFill>
            <a:srgbClr val="10192E"/>
          </a:solidFill>
          <a:ln w="20320">
            <a:solidFill>
              <a:srgbClr val="E6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01368"/>
            <a:ext cx="310896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6C766"/>
                </a:solidFill>
                <a:latin typeface="Segoe UI"/>
              </a:rPr>
              <a:t>L1 — Prompt Injection Barrier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801368"/>
            <a:ext cx="813816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Student input wrapped in &lt;UNTRUSTED_DATA&gt; tags — system prompt never treats it as instructions.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706624"/>
            <a:ext cx="11640312" cy="841248"/>
          </a:xfrm>
          <a:prstGeom prst="roundRect">
            <a:avLst>
              <a:gd name="adj" fmla="val 5000"/>
            </a:avLst>
          </a:prstGeom>
          <a:solidFill>
            <a:srgbClr val="10192E"/>
          </a:solidFill>
          <a:ln w="20320">
            <a:solidFill>
              <a:srgbClr val="E6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06624"/>
            <a:ext cx="310896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6C766"/>
                </a:solidFill>
                <a:latin typeface="Segoe UI"/>
              </a:rPr>
              <a:t>L2 — Output Post-Filter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706624"/>
            <a:ext cx="813816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Regex strips payload syntax: ../ traversal, SQL tautologies, literal credentials, flag values.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3611879"/>
            <a:ext cx="11640312" cy="841248"/>
          </a:xfrm>
          <a:prstGeom prst="roundRect">
            <a:avLst>
              <a:gd name="adj" fmla="val 5000"/>
            </a:avLst>
          </a:prstGeom>
          <a:solidFill>
            <a:srgbClr val="10192E"/>
          </a:solidFill>
          <a:ln w="20320">
            <a:solidFill>
              <a:srgbClr val="E6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611879"/>
            <a:ext cx="310896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6C766"/>
                </a:solidFill>
                <a:latin typeface="Segoe UI"/>
              </a:rPr>
              <a:t>L3 — Budget Enforcement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611879"/>
            <a:ext cx="813816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Per-user token budget (LLM10). Rate-limited: 1 tutor call / 10s, 1 nudge / 60s. Never per-keystroke.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4517136"/>
            <a:ext cx="11640312" cy="841248"/>
          </a:xfrm>
          <a:prstGeom prst="roundRect">
            <a:avLst>
              <a:gd name="adj" fmla="val 5000"/>
            </a:avLst>
          </a:prstGeom>
          <a:solidFill>
            <a:srgbClr val="10192E"/>
          </a:solidFill>
          <a:ln w="20320">
            <a:solidFill>
              <a:srgbClr val="E6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517136"/>
            <a:ext cx="310896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6C766"/>
                </a:solidFill>
                <a:latin typeface="Segoe UI"/>
              </a:rPr>
              <a:t>L4 — Output Validation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517136"/>
            <a:ext cx="813816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validate_ai_output() checks each reply against scenario secrets → safe static Socratic fallback.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5422392"/>
            <a:ext cx="11640312" cy="841248"/>
          </a:xfrm>
          <a:prstGeom prst="roundRect">
            <a:avLst>
              <a:gd name="adj" fmla="val 5000"/>
            </a:avLst>
          </a:prstGeom>
          <a:solidFill>
            <a:srgbClr val="10192E"/>
          </a:solidFill>
          <a:ln w="20320">
            <a:solidFill>
              <a:srgbClr val="E6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422392"/>
            <a:ext cx="310896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6C766"/>
                </a:solidFill>
                <a:latin typeface="Segoe UI"/>
              </a:rPr>
              <a:t>Regression Tests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5422392"/>
            <a:ext cx="813816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OWASP-LLM adversarial suite — injection, credential extraction, flag fishing. 340 tests, all green.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327648"/>
            <a:ext cx="11640312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EB6CC"/>
                </a:solidFill>
                <a:latin typeface="Segoe UI"/>
              </a:rPr>
              <a:t>Design principle: the AI is a Socratic guide, never a solution engine — it knows the environment but teaches, never reveals.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6C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22F5FF"/>
                </a:solidFill>
                <a:latin typeface="Segoe UI"/>
              </a:rPr>
              <a:t>THREE TRAINING SCENARIOS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463040"/>
            <a:ext cx="3685032" cy="516636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572768"/>
            <a:ext cx="338328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5C5C"/>
                </a:solidFill>
                <a:latin typeface="Segoe UI"/>
              </a:rPr>
              <a:t>SC-01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2084831"/>
            <a:ext cx="33832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0F4FC"/>
                </a:solidFill>
                <a:latin typeface="Segoe UI"/>
              </a:rPr>
              <a:t>NovaMed Healthcare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2487168"/>
            <a:ext cx="338328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EB6CC"/>
                </a:solidFill>
                <a:latin typeface="Segoe UI"/>
              </a:rPr>
              <a:t>Web Application Pentest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2907792"/>
            <a:ext cx="3383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5C5C"/>
                </a:solidFill>
                <a:latin typeface="Segoe UI"/>
              </a:rPr>
              <a:t>Attack paths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218688"/>
            <a:ext cx="33832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LFI → /etc/passwd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SQLi on the login form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Unauth Redis (port 6379)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IDOR on patient records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Backup leak: .env.bak JWT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5074920"/>
            <a:ext cx="3383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CC8FF"/>
                </a:solidFill>
                <a:latin typeface="Segoe UI"/>
              </a:rPr>
              <a:t>Blue detections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5385816"/>
            <a:ext cx="33832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ModSecurity WAF alerts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Apache access-log anomalies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MariaDB query monitoring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463040"/>
            <a:ext cx="3685032" cy="516636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E6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1572768"/>
            <a:ext cx="338328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6C766"/>
                </a:solidFill>
                <a:latin typeface="Segoe UI"/>
              </a:rPr>
              <a:t>SC-02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2084831"/>
            <a:ext cx="33832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0F4FC"/>
                </a:solidFill>
                <a:latin typeface="Segoe UI"/>
              </a:rPr>
              <a:t>Nexora AD Domain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487168"/>
            <a:ext cx="338328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EB6CC"/>
                </a:solidFill>
                <a:latin typeface="Segoe UI"/>
              </a:rPr>
              <a:t>Active Directory Compromise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2907792"/>
            <a:ext cx="3383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C766"/>
                </a:solidFill>
                <a:latin typeface="Segoe UI"/>
              </a:rPr>
              <a:t>Attack paths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3218688"/>
            <a:ext cx="33832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AS-REP Roasting (no preauth)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GPP cPassword (SYSVOL)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Kerberoasting (MSSQLSvc SPN)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DCSync (secretsdump krbtgt)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5074920"/>
            <a:ext cx="3383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CC8FF"/>
                </a:solidFill>
                <a:latin typeface="Segoe UI"/>
              </a:rPr>
              <a:t>Blue detections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5385816"/>
            <a:ext cx="33832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4768 / 4769 Kerberos 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4662 LDAP enumeration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4670 privilege change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463040"/>
            <a:ext cx="3685032" cy="516636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5C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1572768"/>
            <a:ext cx="338328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5CC8FF"/>
                </a:solidFill>
                <a:latin typeface="Segoe UI"/>
              </a:rPr>
              <a:t>SC-03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2084831"/>
            <a:ext cx="33832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0F4FC"/>
                </a:solidFill>
                <a:latin typeface="Segoe UI"/>
              </a:rPr>
              <a:t>Orion Logistics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2487168"/>
            <a:ext cx="338328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EB6CC"/>
                </a:solidFill>
                <a:latin typeface="Segoe UI"/>
              </a:rPr>
              <a:t>Phishing Campaign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907792"/>
            <a:ext cx="3383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CC8FF"/>
                </a:solidFill>
                <a:latin typeface="Segoe UI"/>
              </a:rPr>
              <a:t>Attack paths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3218688"/>
            <a:ext cx="33832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theHarvester OSINT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GoPhish campaign (:3333)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SWAKS SMTP delivery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Victim simulator → C2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4192" y="5074920"/>
            <a:ext cx="3383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CC8FF"/>
                </a:solidFill>
                <a:latin typeface="Segoe UI"/>
              </a:rPr>
              <a:t>Blue detections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5385816"/>
            <a:ext cx="33832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SPF / DMARC probe detection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Phishing click telemetry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0F4FC"/>
                </a:solidFill>
                <a:latin typeface="Segoe UI"/>
              </a:rPr>
              <a:t>•  Reverse-shell handler events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6C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22F5FF"/>
                </a:solidFill>
                <a:latin typeface="Segoe UI"/>
              </a:rPr>
              <a:t>SECURITY &amp; ISOLATION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9601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88136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2F5FF"/>
                </a:solidFill>
                <a:latin typeface="Segoe UI"/>
              </a:rPr>
              <a:t>Network Isolation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6362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3 internal-only Docker bridge networks. Zero outbound internet — verified by verify-network-isolation.sh.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9601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0528" y="1088136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2F5FF"/>
                </a:solidFill>
                <a:latin typeface="Segoe UI"/>
              </a:rPr>
              <a:t>Container Hardening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0528" y="156362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7/9 containers: cap_drop ALL + no-new-privileges. SC-02 Samba left fail-open (documented rationale).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69748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825496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2F5FF"/>
                </a:solidFill>
                <a:latin typeface="Segoe UI"/>
              </a:rPr>
              <a:t>Auth &amp; Rate Limiting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0098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JWT RS256. Auth 5/min  ·  AI tutor 1 / 10s  ·  flags 10/min. All limits enforced via Redis.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69748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825496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2F5FF"/>
                </a:solidFill>
                <a:latin typeface="Segoe UI"/>
              </a:rPr>
              <a:t>STRIDE Threat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330098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6 residual risks (R1–R6) documented. R1 docker.sock deferred; R3 hardening improved this sprint.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43484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562855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2F5FF"/>
                </a:solidFill>
                <a:latin typeface="Segoe UI"/>
              </a:rPr>
              <a:t>No Real Exploits in Source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03834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Attacks driven by YAML config + structured output patterns. No live malware, ransomware, or C2 in source.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43484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4562855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2F5FF"/>
                </a:solidFill>
                <a:latin typeface="Segoe UI"/>
              </a:rPr>
              <a:t>Content-Security-Policy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5038344"/>
            <a:ext cx="51206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0F4FC"/>
                </a:solidFill>
                <a:latin typeface="Segoe UI"/>
              </a:rPr>
              <a:t>CSP report-only header in nginx blocks XSS. style-src 'unsafe-inline' for xterm.js (documented).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6C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22F5FF"/>
                </a:solidFill>
                <a:latin typeface="Segoe UI"/>
              </a:rPr>
              <a:t>RESULTS &amp;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3657600" cy="22402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35608"/>
            <a:ext cx="365760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22F5FF"/>
                </a:solidFill>
                <a:latin typeface="Segoe UI"/>
              </a:rPr>
              <a:t>358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532888"/>
            <a:ext cx="36576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0F4FC"/>
                </a:solidFill>
                <a:latin typeface="Segoe UI"/>
              </a:rPr>
              <a:t>Backend tests passing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EB6CC"/>
                </a:solidFill>
                <a:latin typeface="Segoe UI"/>
              </a:rPr>
              <a:t>(316 unit + 42 integration)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234440"/>
            <a:ext cx="3657600" cy="22402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5C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70248" y="1435608"/>
            <a:ext cx="365760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5CC8FF"/>
                </a:solidFill>
                <a:latin typeface="Segoe UI"/>
              </a:rPr>
              <a:t>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70248" y="2532888"/>
            <a:ext cx="36576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0F4FC"/>
                </a:solidFill>
                <a:latin typeface="Segoe UI"/>
              </a:rPr>
              <a:t>Vitest frontend tests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EB6CC"/>
                </a:solidFill>
                <a:latin typeface="Segoe UI"/>
              </a:rPr>
              <a:t>(component + hook coverage)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234440"/>
            <a:ext cx="3657600" cy="22402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E6C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1" y="1435608"/>
            <a:ext cx="365760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E6C766"/>
                </a:solidFill>
                <a:latin typeface="Segoe UI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2532888"/>
            <a:ext cx="36576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0F4FC"/>
                </a:solidFill>
                <a:latin typeface="Segoe UI"/>
              </a:rPr>
              <a:t>Architecture diagrams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EB6CC"/>
                </a:solidFill>
                <a:latin typeface="Segoe UI"/>
              </a:rPr>
              <a:t>(rendered SVG + PNG)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03320"/>
            <a:ext cx="3657600" cy="22402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35E0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904487"/>
            <a:ext cx="365760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35E0A1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001768"/>
            <a:ext cx="36576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0F4FC"/>
                </a:solidFill>
                <a:latin typeface="Segoe UI"/>
              </a:rPr>
              <a:t>Complete scenarios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EB6CC"/>
                </a:solidFill>
                <a:latin typeface="Segoe UI"/>
              </a:rPr>
              <a:t>with kill-chain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0248" y="3703320"/>
            <a:ext cx="3657600" cy="22402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5C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0248" y="3904487"/>
            <a:ext cx="365760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5CC8FF"/>
                </a:solidFill>
                <a:latin typeface="Segoe UI"/>
              </a:rPr>
              <a:t>&lt;3s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5001768"/>
            <a:ext cx="36576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0F4FC"/>
                </a:solidFill>
                <a:latin typeface="Segoe UI"/>
              </a:rPr>
              <a:t>AI tutor p50 latency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EB6CC"/>
                </a:solidFill>
                <a:latin typeface="Segoe UI"/>
              </a:rPr>
              <a:t>(OpenRouter / DeepSeek)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28431" y="3703320"/>
            <a:ext cx="3657600" cy="2240280"/>
          </a:xfrm>
          <a:prstGeom prst="roundRect">
            <a:avLst>
              <a:gd name="adj" fmla="val 6000"/>
            </a:avLst>
          </a:prstGeom>
          <a:solidFill>
            <a:srgbClr val="0E1628"/>
          </a:solidFill>
          <a:ln w="2540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28431" y="3904487"/>
            <a:ext cx="365760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22F5FF"/>
                </a:solidFill>
                <a:latin typeface="Segoe UI"/>
              </a:rPr>
              <a:t>98/100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5001768"/>
            <a:ext cx="36576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0F4FC"/>
                </a:solidFill>
                <a:latin typeface="Segoe UI"/>
              </a:rPr>
              <a:t>Self-assessed completion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EB6CC"/>
                </a:solidFill>
                <a:latin typeface="Segoe UI"/>
              </a:rPr>
              <a:t>(graduation-ready)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6C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133856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22F5FF"/>
                </a:solidFill>
                <a:latin typeface="Segoe UI"/>
              </a:rPr>
              <a:t>LIVE DEMO — SC-01 KILL CHAIN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914400"/>
            <a:ext cx="5669280" cy="960120"/>
          </a:xfrm>
          <a:prstGeom prst="roundRect">
            <a:avLst>
              <a:gd name="adj" fmla="val 6000"/>
            </a:avLst>
          </a:prstGeom>
          <a:solidFill>
            <a:srgbClr val="10192E"/>
          </a:solidFill>
          <a:ln w="2032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914400"/>
            <a:ext cx="1874519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F5FF"/>
                </a:solidFill>
                <a:latin typeface="Segoe UI"/>
              </a:rPr>
              <a:t>1. Login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914400"/>
            <a:ext cx="352044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0F4FC"/>
                </a:solidFill>
                <a:latin typeface="Segoe UI"/>
              </a:rPr>
              <a:t>admin / CyberSimAdmin!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914400"/>
            <a:ext cx="5669280" cy="960120"/>
          </a:xfrm>
          <a:prstGeom prst="roundRect">
            <a:avLst>
              <a:gd name="adj" fmla="val 6000"/>
            </a:avLst>
          </a:prstGeom>
          <a:solidFill>
            <a:srgbClr val="10192E"/>
          </a:solidFill>
          <a:ln w="2032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9944" y="914400"/>
            <a:ext cx="1874519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F5FF"/>
                </a:solidFill>
                <a:latin typeface="Segoe UI"/>
              </a:rPr>
              <a:t>2. Select SC-01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914400"/>
            <a:ext cx="352044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0F4FC"/>
                </a:solidFill>
                <a:latin typeface="Segoe UI"/>
              </a:rPr>
              <a:t>NovaMed Healthcare scenario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011680"/>
            <a:ext cx="5669280" cy="960120"/>
          </a:xfrm>
          <a:prstGeom prst="roundRect">
            <a:avLst>
              <a:gd name="adj" fmla="val 6000"/>
            </a:avLst>
          </a:prstGeom>
          <a:solidFill>
            <a:srgbClr val="10192E"/>
          </a:solidFill>
          <a:ln w="2032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2011680"/>
            <a:ext cx="1874519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F5FF"/>
                </a:solidFill>
                <a:latin typeface="Segoe UI"/>
              </a:rPr>
              <a:t>3. ROE Brief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011680"/>
            <a:ext cx="352044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0F4FC"/>
                </a:solidFill>
                <a:latin typeface="Segoe UI"/>
              </a:rPr>
              <a:t>Acknowledge rules of engagement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011680"/>
            <a:ext cx="5669280" cy="960120"/>
          </a:xfrm>
          <a:prstGeom prst="roundRect">
            <a:avLst>
              <a:gd name="adj" fmla="val 6000"/>
            </a:avLst>
          </a:prstGeom>
          <a:solidFill>
            <a:srgbClr val="10192E"/>
          </a:solidFill>
          <a:ln w="2032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2011680"/>
            <a:ext cx="1874519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F5FF"/>
                </a:solidFill>
                <a:latin typeface="Segoe UI"/>
              </a:rPr>
              <a:t>4. Recon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2011680"/>
            <a:ext cx="352044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0F4FC"/>
                </a:solidFill>
                <a:latin typeface="Segoe UI"/>
              </a:rPr>
              <a:t>nmap -sV 172.20.1.20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108960"/>
            <a:ext cx="5669280" cy="960120"/>
          </a:xfrm>
          <a:prstGeom prst="roundRect">
            <a:avLst>
              <a:gd name="adj" fmla="val 6000"/>
            </a:avLst>
          </a:prstGeom>
          <a:solidFill>
            <a:srgbClr val="10192E"/>
          </a:solidFill>
          <a:ln w="2032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3108960"/>
            <a:ext cx="1874519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F5FF"/>
                </a:solidFill>
                <a:latin typeface="Segoe UI"/>
              </a:rPr>
              <a:t>5. SIEM Alert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108960"/>
            <a:ext cx="352044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0F4FC"/>
                </a:solidFill>
                <a:latin typeface="Segoe UI"/>
              </a:rPr>
              <a:t>Blue: Port scan detected (LOW)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3108960"/>
            <a:ext cx="5669280" cy="960120"/>
          </a:xfrm>
          <a:prstGeom prst="roundRect">
            <a:avLst>
              <a:gd name="adj" fmla="val 6000"/>
            </a:avLst>
          </a:prstGeom>
          <a:solidFill>
            <a:srgbClr val="10192E"/>
          </a:solidFill>
          <a:ln w="2032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3108960"/>
            <a:ext cx="1874519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F5FF"/>
                </a:solidFill>
                <a:latin typeface="Segoe UI"/>
              </a:rPr>
              <a:t>6. AI Hint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3108960"/>
            <a:ext cx="352044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0F4FC"/>
                </a:solidFill>
                <a:latin typeface="Segoe UI"/>
              </a:rPr>
              <a:t>Ask: 'What should I enumerate next?'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4206240"/>
            <a:ext cx="5669280" cy="960120"/>
          </a:xfrm>
          <a:prstGeom prst="roundRect">
            <a:avLst>
              <a:gd name="adj" fmla="val 6000"/>
            </a:avLst>
          </a:prstGeom>
          <a:solidFill>
            <a:srgbClr val="10192E"/>
          </a:solidFill>
          <a:ln w="2032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4206240"/>
            <a:ext cx="1874519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F5FF"/>
                </a:solidFill>
                <a:latin typeface="Segoe UI"/>
              </a:rPr>
              <a:t>7. LFI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4206240"/>
            <a:ext cx="352044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0F4FC"/>
                </a:solidFill>
                <a:latin typeface="Segoe UI"/>
              </a:rPr>
              <a:t>curl .../records/?file=../../etc/passwd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5352" y="4206240"/>
            <a:ext cx="5669280" cy="960120"/>
          </a:xfrm>
          <a:prstGeom prst="roundRect">
            <a:avLst>
              <a:gd name="adj" fmla="val 6000"/>
            </a:avLst>
          </a:prstGeom>
          <a:solidFill>
            <a:srgbClr val="10192E"/>
          </a:solidFill>
          <a:ln w="2032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9944" y="4206240"/>
            <a:ext cx="1874519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F5FF"/>
                </a:solidFill>
                <a:latin typeface="Segoe UI"/>
              </a:rPr>
              <a:t>8. Flag Nudge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4206240"/>
            <a:ext cx="352044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0F4FC"/>
                </a:solidFill>
                <a:latin typeface="Segoe UI"/>
              </a:rPr>
              <a:t>🚩 chip: 'root:x:0:0' detected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5303520"/>
            <a:ext cx="5669280" cy="960120"/>
          </a:xfrm>
          <a:prstGeom prst="roundRect">
            <a:avLst>
              <a:gd name="adj" fmla="val 6000"/>
            </a:avLst>
          </a:prstGeom>
          <a:solidFill>
            <a:srgbClr val="10192E"/>
          </a:solidFill>
          <a:ln w="2032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5303520"/>
            <a:ext cx="1874519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F5FF"/>
                </a:solidFill>
                <a:latin typeface="Segoe UI"/>
              </a:rPr>
              <a:t>9. Submit Flag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5303520"/>
            <a:ext cx="352044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0F4FC"/>
                </a:solidFill>
                <a:latin typeface="Segoe UI"/>
              </a:rPr>
              <a:t>FLAG-SC01-1 captured  ·  +15 pts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5352" y="5303520"/>
            <a:ext cx="5669280" cy="960120"/>
          </a:xfrm>
          <a:prstGeom prst="roundRect">
            <a:avLst>
              <a:gd name="adj" fmla="val 6000"/>
            </a:avLst>
          </a:prstGeom>
          <a:solidFill>
            <a:srgbClr val="10192E"/>
          </a:solidFill>
          <a:ln w="20320">
            <a:solidFill>
              <a:srgbClr val="22F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9944" y="5303520"/>
            <a:ext cx="1874519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F5FF"/>
                </a:solidFill>
                <a:latin typeface="Segoe UI"/>
              </a:rPr>
              <a:t>10. Debrief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5303520"/>
            <a:ext cx="3520440" cy="960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0F4FC"/>
                </a:solidFill>
                <a:latin typeface="Segoe UI"/>
              </a:rPr>
              <a:t>Score: 100 → penalties / bonuses → final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6C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E6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73152" cy="6675120"/>
          </a:xfrm>
          <a:prstGeom prst="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115800" y="91440"/>
            <a:ext cx="73152" cy="6675120"/>
          </a:xfrm>
          <a:prstGeom prst="rect">
            <a:avLst/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11887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1">
                <a:solidFill>
                  <a:srgbClr val="22F5FF"/>
                </a:solidFill>
                <a:latin typeface="Segoe UI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10362895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E6C766"/>
                </a:solidFill>
                <a:latin typeface="Segoe UI"/>
              </a:rPr>
              <a:t>Questions?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3794760"/>
            <a:ext cx="5790895" cy="32004"/>
          </a:xfrm>
          <a:prstGeom prst="rect">
            <a:avLst/>
          </a:prstGeom>
          <a:solidFill>
            <a:srgbClr val="E6C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0" y="4114800"/>
            <a:ext cx="15544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6C766"/>
                </a:solidFill>
                <a:latin typeface="Segoe UI"/>
              </a:rPr>
              <a:t>GitHub: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4114800"/>
            <a:ext cx="5486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0F4FC"/>
                </a:solidFill>
                <a:latin typeface="Segoe UI"/>
              </a:rPr>
              <a:t>github.com/VinsmokeD/JUTerminal1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4681728"/>
            <a:ext cx="15544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6C766"/>
                </a:solidFill>
                <a:latin typeface="Segoe UI"/>
              </a:rPr>
              <a:t>Stack: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4681728"/>
            <a:ext cx="5486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0F4FC"/>
                </a:solidFill>
                <a:latin typeface="Segoe UI"/>
              </a:rPr>
              <a:t>React + FastAPI + Docker + OpenRouter/DeepSeek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5248656"/>
            <a:ext cx="15544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6C766"/>
                </a:solidFill>
                <a:latin typeface="Segoe UI"/>
              </a:rPr>
              <a:t>Tests: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5248656"/>
            <a:ext cx="5486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0F4FC"/>
                </a:solidFill>
                <a:latin typeface="Segoe UI"/>
              </a:rPr>
              <a:t>358 passing  |  46 Vitest  |  3 scenarios  |  98/100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